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1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4419-62D1-02BB-4D75-DA0A592035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4936A5-E5A7-32BC-92D7-1C8B398C8F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918424-4778-7829-9593-2E7C497D22A2}"/>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5" name="Footer Placeholder 4">
            <a:extLst>
              <a:ext uri="{FF2B5EF4-FFF2-40B4-BE49-F238E27FC236}">
                <a16:creationId xmlns:a16="http://schemas.microsoft.com/office/drawing/2014/main" id="{5B190B46-195A-A4F5-DFE0-53C2E7CCC6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A3A27-4296-D9A5-1F9F-DFCB766E6C7E}"/>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1938146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C876E-CE6A-BDF3-E61D-F86E782F80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A687C3-E511-1572-003C-B7F370F88A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5BCE06-BB9C-C387-893B-16E76EAAFAC0}"/>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5" name="Footer Placeholder 4">
            <a:extLst>
              <a:ext uri="{FF2B5EF4-FFF2-40B4-BE49-F238E27FC236}">
                <a16:creationId xmlns:a16="http://schemas.microsoft.com/office/drawing/2014/main" id="{A65A37FB-85B7-1D27-8148-886B4CB0B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385A7-AD04-379E-5A82-B5133C6E710F}"/>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3868920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0DC7-6771-F9B2-AC80-2D49B820C3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C9C01A-D3BB-D634-C0D8-6A968BFC1E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181F47-919F-E723-D659-489C89AC483C}"/>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5" name="Footer Placeholder 4">
            <a:extLst>
              <a:ext uri="{FF2B5EF4-FFF2-40B4-BE49-F238E27FC236}">
                <a16:creationId xmlns:a16="http://schemas.microsoft.com/office/drawing/2014/main" id="{82DB9AEF-6F9A-C9BF-2A10-2B263BA6E3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41535C-0DE8-AD25-C4DF-DF92530EC06A}"/>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1697927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0A40C-C98E-0A9C-684A-E13397C6E9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C8FF94-2854-9277-CF2C-A541938461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025B5B-7DED-B7BE-A0D2-105CF49815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49C378-68B2-3161-8118-5A60FD353D39}"/>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6" name="Footer Placeholder 5">
            <a:extLst>
              <a:ext uri="{FF2B5EF4-FFF2-40B4-BE49-F238E27FC236}">
                <a16:creationId xmlns:a16="http://schemas.microsoft.com/office/drawing/2014/main" id="{FBCB5F8E-1958-84CC-80AB-4311323AA9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90A91B-1654-37AA-EFA7-C386B5AEF534}"/>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405163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0D4CB-9045-8753-3F26-60D39C7CC9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15C556-FE70-F036-B0D5-C3DC46C705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D4F656-8459-3EE4-0DA4-90E7881A98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E179B2-5C51-337D-7A07-37B71B2ED6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35C192-D192-08C2-5E40-18E0727DD5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4456BC-AF6B-4A01-999C-2FF2D9F21513}"/>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8" name="Footer Placeholder 7">
            <a:extLst>
              <a:ext uri="{FF2B5EF4-FFF2-40B4-BE49-F238E27FC236}">
                <a16:creationId xmlns:a16="http://schemas.microsoft.com/office/drawing/2014/main" id="{894B1B60-86F2-B7A2-F27D-7554F2D5A4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4B7C78-3A2B-A3DF-D9C5-E0434DFDE7B4}"/>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1915427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352E-B72D-6A04-754B-ED4C436C7D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49F873-579E-43BE-08BC-61EDA5AD4C8E}"/>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4" name="Footer Placeholder 3">
            <a:extLst>
              <a:ext uri="{FF2B5EF4-FFF2-40B4-BE49-F238E27FC236}">
                <a16:creationId xmlns:a16="http://schemas.microsoft.com/office/drawing/2014/main" id="{4420D182-022C-FFF2-859C-82D8868DC9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D47265-462D-EC3F-9FA1-64EA8C32FC1F}"/>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1547181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BB7A6D-7B81-04B9-5464-5BF14A4C5000}"/>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3" name="Footer Placeholder 2">
            <a:extLst>
              <a:ext uri="{FF2B5EF4-FFF2-40B4-BE49-F238E27FC236}">
                <a16:creationId xmlns:a16="http://schemas.microsoft.com/office/drawing/2014/main" id="{AF9E3644-63E3-58D0-A371-C3286E8BF2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42F558-DC84-91E7-5A86-B9C9DFB9082D}"/>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1945442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3C85-9EE0-9489-2BB6-A3C108690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1D10C4-190B-CBC9-11E2-359A49DFF5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A3F706-FD32-FD8F-9CCB-F6314D115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2000E-EE80-4FA2-5A94-A7CDE8D0198D}"/>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6" name="Footer Placeholder 5">
            <a:extLst>
              <a:ext uri="{FF2B5EF4-FFF2-40B4-BE49-F238E27FC236}">
                <a16:creationId xmlns:a16="http://schemas.microsoft.com/office/drawing/2014/main" id="{15A55E95-97DC-9DF7-87F0-7EAEBB704D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CCDD5-9ED4-0526-F2DF-821893C16457}"/>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341296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DA963-7F26-7723-103E-63FA10BDC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C43A96-1E00-B287-CA01-9D590CDFA2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AF5302-D952-3FFE-4EA6-4B382C3DE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E2510-D2D7-924C-D71E-7BBDB9F9BAF7}"/>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6" name="Footer Placeholder 5">
            <a:extLst>
              <a:ext uri="{FF2B5EF4-FFF2-40B4-BE49-F238E27FC236}">
                <a16:creationId xmlns:a16="http://schemas.microsoft.com/office/drawing/2014/main" id="{B1E64411-9028-799F-3F72-01BDF44B90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65D97E-1F45-C633-8A69-0312885906F1}"/>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598453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12F01-B19D-C747-EF06-973B45E706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B68323-5F11-3117-05DE-15501FFF2E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A9BE24-1582-E33C-70D7-F76E53D6D049}"/>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5" name="Footer Placeholder 4">
            <a:extLst>
              <a:ext uri="{FF2B5EF4-FFF2-40B4-BE49-F238E27FC236}">
                <a16:creationId xmlns:a16="http://schemas.microsoft.com/office/drawing/2014/main" id="{93860D7F-B853-0913-F0D7-2F33BE2C0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CFF380-33E5-AD53-5E81-418599D0784C}"/>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2637190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723AF3-E547-9F0E-01FF-791C169ADB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E0BFCB-9D6D-BCF6-50D6-B7F68FD79B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D81F6D-4073-8299-04CC-EB1CB7123742}"/>
              </a:ext>
            </a:extLst>
          </p:cNvPr>
          <p:cNvSpPr>
            <a:spLocks noGrp="1"/>
          </p:cNvSpPr>
          <p:nvPr>
            <p:ph type="dt" sz="half" idx="10"/>
          </p:nvPr>
        </p:nvSpPr>
        <p:spPr/>
        <p:txBody>
          <a:bodyPr/>
          <a:lstStyle/>
          <a:p>
            <a:fld id="{90E3AB16-BBAE-415D-BEFC-57F38604364B}" type="datetimeFigureOut">
              <a:rPr lang="en-US" smtClean="0"/>
              <a:t>5/25/2024</a:t>
            </a:fld>
            <a:endParaRPr lang="en-US"/>
          </a:p>
        </p:txBody>
      </p:sp>
      <p:sp>
        <p:nvSpPr>
          <p:cNvPr id="5" name="Footer Placeholder 4">
            <a:extLst>
              <a:ext uri="{FF2B5EF4-FFF2-40B4-BE49-F238E27FC236}">
                <a16:creationId xmlns:a16="http://schemas.microsoft.com/office/drawing/2014/main" id="{4D5555F9-ABEE-AA0F-4A3D-DA9E9A877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1DEDB-FE7D-68A6-A819-21DB181F94AC}"/>
              </a:ext>
            </a:extLst>
          </p:cNvPr>
          <p:cNvSpPr>
            <a:spLocks noGrp="1"/>
          </p:cNvSpPr>
          <p:nvPr>
            <p:ph type="sldNum" sz="quarter" idx="12"/>
          </p:nvPr>
        </p:nvSpPr>
        <p:spPr/>
        <p:txBody>
          <a:bodyPr/>
          <a:lstStyle/>
          <a:p>
            <a:fld id="{5A1EDDF3-3458-4EC7-88A3-574E18703629}" type="slidenum">
              <a:rPr lang="en-US" smtClean="0"/>
              <a:t>‹#›</a:t>
            </a:fld>
            <a:endParaRPr lang="en-US"/>
          </a:p>
        </p:txBody>
      </p:sp>
    </p:spTree>
    <p:extLst>
      <p:ext uri="{BB962C8B-B14F-4D97-AF65-F5344CB8AC3E}">
        <p14:creationId xmlns:p14="http://schemas.microsoft.com/office/powerpoint/2010/main" val="2517596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C1E6A8-46E5-0F29-FA5C-E523C751EC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138096-93FC-2E0F-03C9-53D1EF9E6E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103437-7DB9-E6B9-C80E-ABD4B01F2D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E3AB16-BBAE-415D-BEFC-57F38604364B}" type="datetimeFigureOut">
              <a:rPr lang="en-US" smtClean="0"/>
              <a:t>5/25/2024</a:t>
            </a:fld>
            <a:endParaRPr lang="en-US"/>
          </a:p>
        </p:txBody>
      </p:sp>
      <p:sp>
        <p:nvSpPr>
          <p:cNvPr id="5" name="Footer Placeholder 4">
            <a:extLst>
              <a:ext uri="{FF2B5EF4-FFF2-40B4-BE49-F238E27FC236}">
                <a16:creationId xmlns:a16="http://schemas.microsoft.com/office/drawing/2014/main" id="{A9203D04-D522-0E49-0776-6440BD28FC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088F06-6E37-A2C0-CB8C-5398EE2DE4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1EDDF3-3458-4EC7-88A3-574E18703629}" type="slidenum">
              <a:rPr lang="en-US" smtClean="0"/>
              <a:t>‹#›</a:t>
            </a:fld>
            <a:endParaRPr lang="en-US"/>
          </a:p>
        </p:txBody>
      </p:sp>
    </p:spTree>
    <p:extLst>
      <p:ext uri="{BB962C8B-B14F-4D97-AF65-F5344CB8AC3E}">
        <p14:creationId xmlns:p14="http://schemas.microsoft.com/office/powerpoint/2010/main" val="4132449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FCA63-02CD-EC18-7978-DCA81CCEF102}"/>
              </a:ext>
            </a:extLst>
          </p:cNvPr>
          <p:cNvSpPr>
            <a:spLocks noGrp="1"/>
          </p:cNvSpPr>
          <p:nvPr>
            <p:ph type="ctrTitle"/>
          </p:nvPr>
        </p:nvSpPr>
        <p:spPr>
          <a:xfrm>
            <a:off x="1524000" y="1584683"/>
            <a:ext cx="9144000" cy="2551829"/>
          </a:xfrm>
        </p:spPr>
        <p:txBody>
          <a:bodyPr anchor="ctr">
            <a:normAutofit/>
          </a:bodyPr>
          <a:lstStyle/>
          <a:p>
            <a:r>
              <a:rPr lang="ro-RO" sz="6600" u="sng"/>
              <a:t>Twin Rotor System</a:t>
            </a:r>
            <a:endParaRPr lang="en-US" sz="6600" u="sng"/>
          </a:p>
        </p:txBody>
      </p:sp>
      <p:sp>
        <p:nvSpPr>
          <p:cNvPr id="3" name="Subtitle 2">
            <a:extLst>
              <a:ext uri="{FF2B5EF4-FFF2-40B4-BE49-F238E27FC236}">
                <a16:creationId xmlns:a16="http://schemas.microsoft.com/office/drawing/2014/main" id="{FD232506-8420-71CE-4776-A392726C0FDE}"/>
              </a:ext>
            </a:extLst>
          </p:cNvPr>
          <p:cNvSpPr>
            <a:spLocks noGrp="1"/>
          </p:cNvSpPr>
          <p:nvPr>
            <p:ph type="subTitle" idx="1"/>
          </p:nvPr>
        </p:nvSpPr>
        <p:spPr>
          <a:xfrm>
            <a:off x="-95214" y="5491234"/>
            <a:ext cx="3238427" cy="1182135"/>
          </a:xfrm>
        </p:spPr>
        <p:txBody>
          <a:bodyPr anchor="ctr">
            <a:normAutofit/>
          </a:bodyPr>
          <a:lstStyle/>
          <a:p>
            <a:endParaRPr lang="en-US" sz="1600" dirty="0"/>
          </a:p>
          <a:p>
            <a:r>
              <a:rPr lang="ro-RO" sz="1600" dirty="0"/>
              <a:t>Nume</a:t>
            </a:r>
            <a:r>
              <a:rPr lang="en-US" sz="1600" dirty="0"/>
              <a:t>: David Dana Dorina</a:t>
            </a:r>
          </a:p>
          <a:p>
            <a:r>
              <a:rPr lang="en-US" sz="1600" dirty="0"/>
              <a:t>Data: 25.05.2024</a:t>
            </a:r>
          </a:p>
        </p:txBody>
      </p:sp>
    </p:spTree>
    <p:extLst>
      <p:ext uri="{BB962C8B-B14F-4D97-AF65-F5344CB8AC3E}">
        <p14:creationId xmlns:p14="http://schemas.microsoft.com/office/powerpoint/2010/main" val="93150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3E033F-17BC-1D79-1C9A-8805B19C303F}"/>
              </a:ext>
            </a:extLst>
          </p:cNvPr>
          <p:cNvSpPr>
            <a:spLocks noGrp="1"/>
          </p:cNvSpPr>
          <p:nvPr>
            <p:ph type="title"/>
          </p:nvPr>
        </p:nvSpPr>
        <p:spPr>
          <a:xfrm>
            <a:off x="1043631" y="809898"/>
            <a:ext cx="9942716" cy="1554480"/>
          </a:xfrm>
        </p:spPr>
        <p:txBody>
          <a:bodyPr anchor="ctr">
            <a:normAutofit/>
          </a:bodyPr>
          <a:lstStyle/>
          <a:p>
            <a:r>
              <a:rPr lang="en-US" sz="4800" u="sng"/>
              <a:t>Con</a:t>
            </a:r>
            <a:r>
              <a:rPr lang="ro-RO" sz="4800" u="sng"/>
              <a:t>ț</a:t>
            </a:r>
            <a:r>
              <a:rPr lang="en-US" sz="4800" u="sng"/>
              <a:t>inut</a:t>
            </a:r>
            <a:r>
              <a:rPr lang="en-US" sz="4800"/>
              <a:t>:</a:t>
            </a:r>
          </a:p>
        </p:txBody>
      </p:sp>
      <p:sp>
        <p:nvSpPr>
          <p:cNvPr id="3" name="Content Placeholder 2">
            <a:extLst>
              <a:ext uri="{FF2B5EF4-FFF2-40B4-BE49-F238E27FC236}">
                <a16:creationId xmlns:a16="http://schemas.microsoft.com/office/drawing/2014/main" id="{80EA067F-3743-B766-A67A-B8FF21C1F7E4}"/>
              </a:ext>
            </a:extLst>
          </p:cNvPr>
          <p:cNvSpPr>
            <a:spLocks noGrp="1"/>
          </p:cNvSpPr>
          <p:nvPr>
            <p:ph idx="1"/>
          </p:nvPr>
        </p:nvSpPr>
        <p:spPr>
          <a:xfrm>
            <a:off x="1045028" y="3017522"/>
            <a:ext cx="9941319" cy="3124658"/>
          </a:xfrm>
        </p:spPr>
        <p:txBody>
          <a:bodyPr anchor="ctr">
            <a:normAutofit/>
          </a:bodyPr>
          <a:lstStyle/>
          <a:p>
            <a:r>
              <a:rPr lang="en-US" sz="2400" dirty="0" err="1"/>
              <a:t>Introducere</a:t>
            </a:r>
            <a:endParaRPr lang="en-US" sz="2400" dirty="0"/>
          </a:p>
          <a:p>
            <a:r>
              <a:rPr lang="en-US" sz="2400" dirty="0" err="1"/>
              <a:t>Modelarea</a:t>
            </a:r>
            <a:r>
              <a:rPr lang="en-US" sz="2400" dirty="0"/>
              <a:t> </a:t>
            </a:r>
            <a:r>
              <a:rPr lang="en-US" sz="2400" dirty="0" err="1"/>
              <a:t>Sistemului</a:t>
            </a:r>
            <a:endParaRPr lang="ro-RO" sz="2400" dirty="0"/>
          </a:p>
          <a:p>
            <a:r>
              <a:rPr lang="ro-RO" sz="2400" dirty="0"/>
              <a:t>Identificarea modelului</a:t>
            </a:r>
            <a:endParaRPr lang="en-US" sz="2400" dirty="0"/>
          </a:p>
          <a:p>
            <a:r>
              <a:rPr lang="en-US" sz="2400" dirty="0" err="1"/>
              <a:t>Proiectarea</a:t>
            </a:r>
            <a:r>
              <a:rPr lang="en-US" sz="2400" dirty="0"/>
              <a:t> </a:t>
            </a:r>
            <a:r>
              <a:rPr lang="ro-RO" sz="2400" dirty="0"/>
              <a:t>Regulatoarelor</a:t>
            </a:r>
            <a:endParaRPr lang="en-US" sz="2400" dirty="0"/>
          </a:p>
          <a:p>
            <a:r>
              <a:rPr lang="en-US" sz="2400" dirty="0" err="1"/>
              <a:t>Simularea</a:t>
            </a:r>
            <a:r>
              <a:rPr lang="en-US" sz="2400" dirty="0"/>
              <a:t> </a:t>
            </a:r>
            <a:r>
              <a:rPr lang="en-US" sz="2400" dirty="0" err="1"/>
              <a:t>și</a:t>
            </a:r>
            <a:r>
              <a:rPr lang="en-US" sz="2400" dirty="0"/>
              <a:t> Analiza </a:t>
            </a:r>
            <a:r>
              <a:rPr lang="en-US" sz="2400" dirty="0" err="1"/>
              <a:t>Sistemului</a:t>
            </a:r>
            <a:endParaRPr lang="en-US" sz="2400" dirty="0"/>
          </a:p>
          <a:p>
            <a:r>
              <a:rPr lang="en-US" sz="2400" dirty="0" err="1"/>
              <a:t>Concluzii</a:t>
            </a:r>
            <a:endParaRPr lang="en-US" sz="2400" dirty="0"/>
          </a:p>
          <a:p>
            <a:endParaRPr lang="en-US"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6884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0B8DCBA-FEED-46EF-A140-35B904015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C5A0A3-1716-962A-4031-0E04CE941A79}"/>
              </a:ext>
            </a:extLst>
          </p:cNvPr>
          <p:cNvSpPr>
            <a:spLocks noGrp="1"/>
          </p:cNvSpPr>
          <p:nvPr>
            <p:ph type="title"/>
          </p:nvPr>
        </p:nvSpPr>
        <p:spPr>
          <a:xfrm>
            <a:off x="1043631" y="873940"/>
            <a:ext cx="4928291" cy="1035781"/>
          </a:xfrm>
        </p:spPr>
        <p:txBody>
          <a:bodyPr anchor="ctr">
            <a:normAutofit/>
          </a:bodyPr>
          <a:lstStyle/>
          <a:p>
            <a:r>
              <a:rPr lang="en-US" sz="3600" u="sng"/>
              <a:t>Introducere</a:t>
            </a:r>
          </a:p>
        </p:txBody>
      </p:sp>
      <p:sp>
        <p:nvSpPr>
          <p:cNvPr id="3" name="Content Placeholder 2">
            <a:extLst>
              <a:ext uri="{FF2B5EF4-FFF2-40B4-BE49-F238E27FC236}">
                <a16:creationId xmlns:a16="http://schemas.microsoft.com/office/drawing/2014/main" id="{D30C420D-B1ED-9A2D-C0B6-4414951005D3}"/>
              </a:ext>
            </a:extLst>
          </p:cNvPr>
          <p:cNvSpPr>
            <a:spLocks noGrp="1"/>
          </p:cNvSpPr>
          <p:nvPr>
            <p:ph idx="1"/>
          </p:nvPr>
        </p:nvSpPr>
        <p:spPr>
          <a:xfrm>
            <a:off x="1045029" y="2524721"/>
            <a:ext cx="4991629" cy="3677123"/>
          </a:xfrm>
        </p:spPr>
        <p:txBody>
          <a:bodyPr anchor="ctr">
            <a:normAutofit/>
          </a:bodyPr>
          <a:lstStyle/>
          <a:p>
            <a:pPr marL="0" indent="0">
              <a:buNone/>
            </a:pPr>
            <a:r>
              <a:rPr lang="en-US" sz="1800">
                <a:effectLst/>
                <a:latin typeface="Calibri" panose="020F0502020204030204" pitchFamily="34" charset="0"/>
                <a:ea typeface="Times New Roman" panose="02020603050405020304" pitchFamily="18" charset="0"/>
                <a:cs typeface="Times New Roman" panose="02020603050405020304" pitchFamily="18" charset="0"/>
              </a:rPr>
              <a:t>Two Rotor Aero-dynamical System(TRAS) constă dintr-o grindă pivotată pe baza sa în așa fel încât să se poată roti liber atât în plan orizontal, cât și vertical. La ambele capete ale grinzii se află rotoare (main si tail) acționate de motoare de curent continuu. Din anumite puncte de vedere, comportamentul său seamănă cu cel al unui elicopter. Din punct de vedere al controlului, exemplifică un sistem MIMO neliniar de ordin înalt cu cross-coupling</a:t>
            </a:r>
            <a:endParaRPr lang="en-US" sz="1800">
              <a:effectLst/>
              <a:latin typeface="Aptos" panose="020B0004020202020204" pitchFamily="34" charset="0"/>
              <a:ea typeface="Times New Roman" panose="02020603050405020304" pitchFamily="18" charset="0"/>
              <a:cs typeface="Times New Roman" panose="02020603050405020304" pitchFamily="18" charset="0"/>
            </a:endParaRPr>
          </a:p>
          <a:p>
            <a:pPr marL="0" indent="0">
              <a:buNone/>
            </a:pPr>
            <a:endParaRPr lang="en-US" sz="1800"/>
          </a:p>
        </p:txBody>
      </p:sp>
      <p:pic>
        <p:nvPicPr>
          <p:cNvPr id="4" name="Picture 3">
            <a:extLst>
              <a:ext uri="{FF2B5EF4-FFF2-40B4-BE49-F238E27FC236}">
                <a16:creationId xmlns:a16="http://schemas.microsoft.com/office/drawing/2014/main" id="{5D61127D-E91A-2068-BDC1-619A0174F0C9}"/>
              </a:ext>
            </a:extLst>
          </p:cNvPr>
          <p:cNvPicPr/>
          <p:nvPr/>
        </p:nvPicPr>
        <p:blipFill rotWithShape="1">
          <a:blip r:embed="rId2" cstate="print">
            <a:extLst>
              <a:ext uri="{28A0092B-C50C-407E-A947-70E740481C1C}">
                <a14:useLocalDpi xmlns:a14="http://schemas.microsoft.com/office/drawing/2010/main" val="0"/>
              </a:ext>
            </a:extLst>
          </a:blip>
          <a:srcRect r="21" b="70"/>
          <a:stretch/>
        </p:blipFill>
        <p:spPr>
          <a:xfrm>
            <a:off x="6788383" y="613147"/>
            <a:ext cx="4565417" cy="5593443"/>
          </a:xfrm>
          <a:prstGeom prst="rect">
            <a:avLst/>
          </a:prstGeom>
          <a:noFill/>
        </p:spPr>
      </p:pic>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2123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5AF682-E7CC-E566-CABB-7D746284C2EE}"/>
              </a:ext>
            </a:extLst>
          </p:cNvPr>
          <p:cNvSpPr>
            <a:spLocks noGrp="1"/>
          </p:cNvSpPr>
          <p:nvPr>
            <p:ph type="title"/>
          </p:nvPr>
        </p:nvSpPr>
        <p:spPr>
          <a:xfrm>
            <a:off x="1043631" y="873940"/>
            <a:ext cx="5052369" cy="1035781"/>
          </a:xfrm>
        </p:spPr>
        <p:txBody>
          <a:bodyPr anchor="ctr">
            <a:normAutofit/>
          </a:bodyPr>
          <a:lstStyle/>
          <a:p>
            <a:r>
              <a:rPr lang="en-US" sz="3600" u="sng" dirty="0" err="1"/>
              <a:t>Modelarea</a:t>
            </a:r>
            <a:r>
              <a:rPr lang="en-US" sz="3600" u="sng" dirty="0"/>
              <a:t> </a:t>
            </a:r>
            <a:r>
              <a:rPr lang="en-US" sz="3600" u="sng" dirty="0" err="1"/>
              <a:t>Sistemului</a:t>
            </a:r>
            <a:endParaRPr lang="en-US" sz="3600" u="sng" dirty="0"/>
          </a:p>
        </p:txBody>
      </p:sp>
      <p:sp>
        <p:nvSpPr>
          <p:cNvPr id="3" name="Content Placeholder 2">
            <a:extLst>
              <a:ext uri="{FF2B5EF4-FFF2-40B4-BE49-F238E27FC236}">
                <a16:creationId xmlns:a16="http://schemas.microsoft.com/office/drawing/2014/main" id="{82736F59-2D84-0CA6-01F7-03ED30B94F61}"/>
              </a:ext>
            </a:extLst>
          </p:cNvPr>
          <p:cNvSpPr>
            <a:spLocks noGrp="1"/>
          </p:cNvSpPr>
          <p:nvPr>
            <p:ph idx="1"/>
          </p:nvPr>
        </p:nvSpPr>
        <p:spPr>
          <a:xfrm>
            <a:off x="1045029" y="2524721"/>
            <a:ext cx="4991629" cy="3677123"/>
          </a:xfrm>
        </p:spPr>
        <p:txBody>
          <a:bodyPr anchor="ctr">
            <a:normAutofit/>
          </a:bodyPr>
          <a:lstStyle/>
          <a:p>
            <a:pPr marL="0" indent="0">
              <a:buNone/>
            </a:pP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Am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luat</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semnalele</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de RPM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si</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pozitie</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atat</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de la main rotor(pitch angle) cat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si</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de la tail rotor(yaw angle).</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Aceste</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semnale</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le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voi</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folosi</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pentru</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proiecta</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dirty="0" err="1">
                <a:effectLst/>
                <a:latin typeface="Calibri" panose="020F0502020204030204" pitchFamily="34" charset="0"/>
                <a:ea typeface="Times New Roman" panose="02020603050405020304" pitchFamily="18" charset="0"/>
                <a:cs typeface="Times New Roman" panose="02020603050405020304" pitchFamily="18" charset="0"/>
              </a:rPr>
              <a:t>regulatoarele</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ro-RO"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ro-RO"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sz="1800" dirty="0">
              <a:effectLst/>
              <a:latin typeface="Aptos" panose="020B0004020202020204" pitchFamily="34" charset="0"/>
              <a:ea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 screen&#10;&#10;Description automatically generated">
            <a:extLst>
              <a:ext uri="{FF2B5EF4-FFF2-40B4-BE49-F238E27FC236}">
                <a16:creationId xmlns:a16="http://schemas.microsoft.com/office/drawing/2014/main" id="{799BA9FB-7450-F82B-222A-543B57C835A2}"/>
              </a:ext>
            </a:extLst>
          </p:cNvPr>
          <p:cNvPicPr>
            <a:picLocks noChangeAspect="1"/>
          </p:cNvPicPr>
          <p:nvPr/>
        </p:nvPicPr>
        <p:blipFill>
          <a:blip r:embed="rId2"/>
          <a:stretch>
            <a:fillRect/>
          </a:stretch>
        </p:blipFill>
        <p:spPr>
          <a:xfrm>
            <a:off x="6930493" y="1579795"/>
            <a:ext cx="4223252" cy="3758694"/>
          </a:xfrm>
          <a:prstGeom prst="rect">
            <a:avLst/>
          </a:prstGeom>
        </p:spPr>
      </p:pic>
      <p:cxnSp>
        <p:nvCxnSpPr>
          <p:cNvPr id="33" name="Straight Connector 3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177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763764-3ED8-9C56-CA0B-988873FDDC09}"/>
              </a:ext>
            </a:extLst>
          </p:cNvPr>
          <p:cNvSpPr>
            <a:spLocks noGrp="1"/>
          </p:cNvSpPr>
          <p:nvPr>
            <p:ph type="title"/>
          </p:nvPr>
        </p:nvSpPr>
        <p:spPr>
          <a:xfrm>
            <a:off x="1043631" y="873940"/>
            <a:ext cx="4928291" cy="1035781"/>
          </a:xfrm>
        </p:spPr>
        <p:txBody>
          <a:bodyPr anchor="ctr">
            <a:normAutofit/>
          </a:bodyPr>
          <a:lstStyle/>
          <a:p>
            <a:r>
              <a:rPr lang="ro-RO" sz="3600" u="sng" dirty="0"/>
              <a:t>Identificarea Modelului</a:t>
            </a:r>
            <a:endParaRPr lang="en-US" sz="3600" u="sng" dirty="0"/>
          </a:p>
        </p:txBody>
      </p:sp>
      <p:sp>
        <p:nvSpPr>
          <p:cNvPr id="3" name="Content Placeholder 2">
            <a:extLst>
              <a:ext uri="{FF2B5EF4-FFF2-40B4-BE49-F238E27FC236}">
                <a16:creationId xmlns:a16="http://schemas.microsoft.com/office/drawing/2014/main" id="{BD4A7E6B-182F-79B9-6198-07E76C0A7380}"/>
              </a:ext>
            </a:extLst>
          </p:cNvPr>
          <p:cNvSpPr>
            <a:spLocks noGrp="1"/>
          </p:cNvSpPr>
          <p:nvPr>
            <p:ph idx="1"/>
          </p:nvPr>
        </p:nvSpPr>
        <p:spPr>
          <a:xfrm>
            <a:off x="1045029" y="2524721"/>
            <a:ext cx="4991629" cy="3677123"/>
          </a:xfrm>
        </p:spPr>
        <p:txBody>
          <a:bodyPr anchor="ctr">
            <a:normAutofit/>
          </a:bodyPr>
          <a:lstStyle/>
          <a:p>
            <a:pPr marL="0" marR="0" indent="0">
              <a:spcBef>
                <a:spcPts val="0"/>
              </a:spcBef>
              <a:spcAft>
                <a:spcPts val="1000"/>
              </a:spcAft>
              <a:buNone/>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In </a:t>
            </a:r>
            <a:r>
              <a:rPr lang="en-US" sz="1800">
                <a:effectLst/>
                <a:latin typeface="Calibri" panose="020F0502020204030204" pitchFamily="34" charset="0"/>
                <a:ea typeface="Times New Roman" panose="02020603050405020304" pitchFamily="18" charset="0"/>
                <a:cs typeface="Times New Roman" panose="02020603050405020304" pitchFamily="18" charset="0"/>
              </a:rPr>
              <a:t>urma</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pasului</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de </a:t>
            </a:r>
            <a:r>
              <a:rPr lang="en-US" sz="1800">
                <a:effectLst/>
                <a:latin typeface="Calibri" panose="020F0502020204030204" pitchFamily="34" charset="0"/>
                <a:ea typeface="Times New Roman" panose="02020603050405020304" pitchFamily="18" charset="0"/>
                <a:cs typeface="Times New Roman" panose="02020603050405020304" pitchFamily="18" charset="0"/>
              </a:rPr>
              <a:t>preluare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 </a:t>
            </a:r>
            <a:r>
              <a:rPr lang="en-US" sz="1800">
                <a:effectLst/>
                <a:latin typeface="Calibri" panose="020F0502020204030204" pitchFamily="34" charset="0"/>
                <a:ea typeface="Times New Roman" panose="02020603050405020304" pitchFamily="18" charset="0"/>
                <a:cs typeface="Times New Roman" panose="02020603050405020304" pitchFamily="18" charset="0"/>
              </a:rPr>
              <a:t>datelor</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vom</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realiza</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identificarea</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functiilor</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de transfer.</a:t>
            </a:r>
            <a:endParaRPr lang="en-US" sz="1800">
              <a:effectLst/>
              <a:latin typeface="Aptos" panose="020B0004020202020204" pitchFamily="34" charset="0"/>
              <a:ea typeface="Times New Roman" panose="02020603050405020304" pitchFamily="18" charset="0"/>
              <a:cs typeface="Times New Roman" panose="02020603050405020304" pitchFamily="18" charset="0"/>
            </a:endParaRPr>
          </a:p>
          <a:p>
            <a:pPr marL="0" marR="0" indent="0">
              <a:spcBef>
                <a:spcPts val="0"/>
              </a:spcBef>
              <a:spcAft>
                <a:spcPts val="1000"/>
              </a:spcAft>
              <a:buNone/>
            </a:pPr>
            <a:r>
              <a:rPr lang="en-US" sz="1800">
                <a:effectLst/>
                <a:latin typeface="Calibri" panose="020F0502020204030204" pitchFamily="34" charset="0"/>
                <a:ea typeface="Times New Roman" panose="02020603050405020304" pitchFamily="18" charset="0"/>
                <a:cs typeface="Times New Roman" panose="02020603050405020304" pitchFamily="18" charset="0"/>
              </a:rPr>
              <a:t>Pentru</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acest</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pas </a:t>
            </a:r>
            <a:r>
              <a:rPr lang="en-US" sz="1800">
                <a:effectLst/>
                <a:latin typeface="Calibri" panose="020F0502020204030204" pitchFamily="34" charset="0"/>
                <a:ea typeface="Times New Roman" panose="02020603050405020304" pitchFamily="18" charset="0"/>
                <a:cs typeface="Times New Roman" panose="02020603050405020304" pitchFamily="18" charset="0"/>
              </a:rPr>
              <a:t>urmator</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de </a:t>
            </a:r>
            <a:r>
              <a:rPr lang="en-US" sz="1800">
                <a:effectLst/>
                <a:latin typeface="Calibri" panose="020F0502020204030204" pitchFamily="34" charset="0"/>
                <a:ea typeface="Times New Roman" panose="02020603050405020304" pitchFamily="18" charset="0"/>
                <a:cs typeface="Times New Roman" panose="02020603050405020304" pitchFamily="18" charset="0"/>
              </a:rPr>
              <a:t>identificare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am </a:t>
            </a:r>
            <a:r>
              <a:rPr lang="en-US" sz="1800">
                <a:effectLst/>
                <a:latin typeface="Calibri" panose="020F0502020204030204" pitchFamily="34" charset="0"/>
                <a:ea typeface="Times New Roman" panose="02020603050405020304" pitchFamily="18" charset="0"/>
                <a:cs typeface="Times New Roman" panose="02020603050405020304" pitchFamily="18" charset="0"/>
              </a:rPr>
              <a:t>folosit</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systemIdentification</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toolbox </a:t>
            </a:r>
            <a:r>
              <a:rPr lang="en-US" sz="1800">
                <a:effectLst/>
                <a:latin typeface="Calibri" panose="020F0502020204030204" pitchFamily="34" charset="0"/>
                <a:ea typeface="Times New Roman" panose="02020603050405020304" pitchFamily="18" charset="0"/>
                <a:cs typeface="Times New Roman" panose="02020603050405020304" pitchFamily="18" charset="0"/>
              </a:rPr>
              <a:t>pentru</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 </a:t>
            </a:r>
            <a:r>
              <a:rPr lang="en-US" sz="1800">
                <a:effectLst/>
                <a:latin typeface="Calibri" panose="020F0502020204030204" pitchFamily="34" charset="0"/>
                <a:ea typeface="Times New Roman" panose="02020603050405020304" pitchFamily="18" charset="0"/>
                <a:cs typeface="Times New Roman" panose="02020603050405020304" pitchFamily="18" charset="0"/>
              </a:rPr>
              <a:t>obtine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o </a:t>
            </a:r>
            <a:r>
              <a:rPr lang="en-US" sz="1800">
                <a:effectLst/>
                <a:latin typeface="Calibri" panose="020F0502020204030204" pitchFamily="34" charset="0"/>
                <a:ea typeface="Times New Roman" panose="02020603050405020304" pitchFamily="18" charset="0"/>
                <a:cs typeface="Times New Roman" panose="02020603050405020304" pitchFamily="18" charset="0"/>
              </a:rPr>
              <a:t>acuratete</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cat </a:t>
            </a:r>
            <a:r>
              <a:rPr lang="en-US" sz="1800">
                <a:effectLst/>
                <a:latin typeface="Calibri" panose="020F0502020204030204" pitchFamily="34" charset="0"/>
                <a:ea typeface="Times New Roman" panose="02020603050405020304" pitchFamily="18" charset="0"/>
                <a:cs typeface="Times New Roman" panose="02020603050405020304" pitchFamily="18" charset="0"/>
              </a:rPr>
              <a:t>mai</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mare.</a:t>
            </a:r>
            <a:endParaRPr lang="en-US" sz="1800">
              <a:effectLst/>
              <a:latin typeface="Aptos" panose="020B0004020202020204" pitchFamily="34" charset="0"/>
              <a:ea typeface="Times New Roman" panose="02020603050405020304" pitchFamily="18" charset="0"/>
              <a:cs typeface="Times New Roman" panose="02020603050405020304" pitchFamily="18" charset="0"/>
            </a:endParaRPr>
          </a:p>
          <a:p>
            <a:pPr marL="0" indent="0">
              <a:buNone/>
            </a:pPr>
            <a:endParaRPr lang="en-US" sz="1800"/>
          </a:p>
        </p:txBody>
      </p:sp>
      <p:sp>
        <p:nvSpPr>
          <p:cNvPr id="31" name="Rectangle 30">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0A52F200-B907-B5D3-BEB8-ED287DD85C41}"/>
              </a:ext>
            </a:extLst>
          </p:cNvPr>
          <p:cNvPicPr/>
          <p:nvPr/>
        </p:nvPicPr>
        <p:blipFill>
          <a:blip r:embed="rId2">
            <a:extLst>
              <a:ext uri="{28A0092B-C50C-407E-A947-70E740481C1C}">
                <a14:useLocalDpi xmlns:a14="http://schemas.microsoft.com/office/drawing/2010/main" val="0"/>
              </a:ext>
            </a:extLst>
          </a:blip>
          <a:stretch>
            <a:fillRect/>
          </a:stretch>
        </p:blipFill>
        <p:spPr>
          <a:xfrm>
            <a:off x="7284252" y="860759"/>
            <a:ext cx="3551231" cy="2317178"/>
          </a:xfrm>
          <a:prstGeom prst="rect">
            <a:avLst/>
          </a:prstGeom>
          <a:noFill/>
        </p:spPr>
      </p:pic>
      <p:cxnSp>
        <p:nvCxnSpPr>
          <p:cNvPr id="35" name="Straight Connector 3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descr="A screenshot of a computer&#10;&#10;Description automatically generated">
            <a:extLst>
              <a:ext uri="{FF2B5EF4-FFF2-40B4-BE49-F238E27FC236}">
                <a16:creationId xmlns:a16="http://schemas.microsoft.com/office/drawing/2014/main" id="{692109BB-B57A-66E9-A5FF-125FF53065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57471" y="3686049"/>
            <a:ext cx="2869570" cy="2317178"/>
          </a:xfrm>
          <a:prstGeom prst="rect">
            <a:avLst/>
          </a:prstGeom>
        </p:spPr>
      </p:pic>
    </p:spTree>
    <p:extLst>
      <p:ext uri="{BB962C8B-B14F-4D97-AF65-F5344CB8AC3E}">
        <p14:creationId xmlns:p14="http://schemas.microsoft.com/office/powerpoint/2010/main" val="220004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C1BAF5C-0066-D746-6092-F092DAD94927}"/>
              </a:ext>
            </a:extLst>
          </p:cNvPr>
          <p:cNvSpPr>
            <a:spLocks noGrp="1"/>
          </p:cNvSpPr>
          <p:nvPr>
            <p:ph type="title"/>
          </p:nvPr>
        </p:nvSpPr>
        <p:spPr>
          <a:xfrm>
            <a:off x="838200" y="3905833"/>
            <a:ext cx="4215063" cy="2398713"/>
          </a:xfrm>
        </p:spPr>
        <p:txBody>
          <a:bodyPr>
            <a:normAutofit/>
          </a:bodyPr>
          <a:lstStyle/>
          <a:p>
            <a:r>
              <a:rPr lang="ro-RO" u="sng" dirty="0"/>
              <a:t>Proiectarea Regulatoarelor</a:t>
            </a:r>
            <a:endParaRPr lang="en-US" u="sng" dirty="0"/>
          </a:p>
        </p:txBody>
      </p:sp>
      <p:pic>
        <p:nvPicPr>
          <p:cNvPr id="6" name="Picture 5" descr="A diagram of a diagram&#10;&#10;Description automatically generated">
            <a:extLst>
              <a:ext uri="{FF2B5EF4-FFF2-40B4-BE49-F238E27FC236}">
                <a16:creationId xmlns:a16="http://schemas.microsoft.com/office/drawing/2014/main" id="{0F88C113-91A5-8105-A4F9-539CFCA939C2}"/>
              </a:ext>
            </a:extLst>
          </p:cNvPr>
          <p:cNvPicPr>
            <a:picLocks noChangeAspect="1"/>
          </p:cNvPicPr>
          <p:nvPr/>
        </p:nvPicPr>
        <p:blipFill>
          <a:blip r:embed="rId2"/>
          <a:stretch>
            <a:fillRect/>
          </a:stretch>
        </p:blipFill>
        <p:spPr>
          <a:xfrm>
            <a:off x="1158955" y="615406"/>
            <a:ext cx="9875259" cy="2345374"/>
          </a:xfrm>
          <a:prstGeom prst="rect">
            <a:avLst/>
          </a:prstGeom>
        </p:spPr>
      </p:pic>
      <p:sp>
        <p:nvSpPr>
          <p:cNvPr id="3" name="Content Placeholder 2">
            <a:extLst>
              <a:ext uri="{FF2B5EF4-FFF2-40B4-BE49-F238E27FC236}">
                <a16:creationId xmlns:a16="http://schemas.microsoft.com/office/drawing/2014/main" id="{3DCD1F8D-A083-7E39-8537-98398E841323}"/>
              </a:ext>
            </a:extLst>
          </p:cNvPr>
          <p:cNvSpPr>
            <a:spLocks noGrp="1"/>
          </p:cNvSpPr>
          <p:nvPr>
            <p:ph idx="1"/>
          </p:nvPr>
        </p:nvSpPr>
        <p:spPr>
          <a:xfrm>
            <a:off x="5630779" y="3884452"/>
            <a:ext cx="5723021" cy="2398713"/>
          </a:xfrm>
        </p:spPr>
        <p:txBody>
          <a:bodyPr anchor="ctr">
            <a:normAutofit/>
          </a:bodyPr>
          <a:lstStyle/>
          <a:p>
            <a:pPr marL="0" indent="0">
              <a:buNone/>
            </a:pPr>
            <a:r>
              <a:rPr lang="en-US" sz="1600">
                <a:effectLst/>
                <a:latin typeface="Calibri" panose="020F0502020204030204" pitchFamily="34" charset="0"/>
                <a:ea typeface="Times New Roman" panose="02020603050405020304" pitchFamily="18" charset="0"/>
                <a:cs typeface="Times New Roman" panose="02020603050405020304" pitchFamily="18" charset="0"/>
              </a:rPr>
              <a:t>Pentru a proiecta regulatoarele am folosit metoda de cascadare, folosind pozitia in inner loop iar RPM pentru outer loop.</a:t>
            </a:r>
            <a:endParaRPr lang="en-US" sz="1600">
              <a:effectLst/>
              <a:latin typeface="Aptos" panose="020B0004020202020204" pitchFamily="34" charset="0"/>
              <a:ea typeface="Times New Roman" panose="02020603050405020304" pitchFamily="18" charset="0"/>
              <a:cs typeface="Times New Roman" panose="02020603050405020304" pitchFamily="18" charset="0"/>
            </a:endParaRPr>
          </a:p>
          <a:p>
            <a:pPr marL="0" marR="0" indent="0">
              <a:spcBef>
                <a:spcPts val="0"/>
              </a:spcBef>
              <a:spcAft>
                <a:spcPts val="1000"/>
              </a:spcAft>
              <a:buNone/>
            </a:pPr>
            <a:r>
              <a:rPr lang="en-US" sz="1600">
                <a:effectLst/>
                <a:latin typeface="Calibri" panose="020F0502020204030204" pitchFamily="34" charset="0"/>
                <a:ea typeface="Times New Roman" panose="02020603050405020304" pitchFamily="18" charset="0"/>
                <a:cs typeface="Times New Roman" panose="02020603050405020304" pitchFamily="18" charset="0"/>
              </a:rPr>
              <a:t>Luand bucla din inauntru am realizat un controller folosindu-ma de pidTunner de unde am luat parametrii Kp,Ki, respectiv Kd.</a:t>
            </a:r>
            <a:endParaRPr lang="en-US" sz="1600">
              <a:effectLst/>
              <a:latin typeface="Aptos" panose="020B0004020202020204" pitchFamily="34" charset="0"/>
              <a:ea typeface="Times New Roman" panose="02020603050405020304" pitchFamily="18" charset="0"/>
              <a:cs typeface="Times New Roman" panose="02020603050405020304" pitchFamily="18" charset="0"/>
            </a:endParaRPr>
          </a:p>
          <a:p>
            <a:pPr marL="0" marR="0" indent="0">
              <a:spcBef>
                <a:spcPts val="0"/>
              </a:spcBef>
              <a:spcAft>
                <a:spcPts val="1000"/>
              </a:spcAft>
              <a:buNone/>
            </a:pPr>
            <a:r>
              <a:rPr lang="en-US" sz="1600">
                <a:effectLst/>
                <a:latin typeface="Calibri" panose="020F0502020204030204" pitchFamily="34" charset="0"/>
                <a:ea typeface="Times New Roman" panose="02020603050405020304" pitchFamily="18" charset="0"/>
                <a:cs typeface="Times New Roman" panose="02020603050405020304" pitchFamily="18" charset="0"/>
              </a:rPr>
              <a:t>Pe baza acestui controller, dupa ce am verificat stabilitatea in bucla inchisa am trecut la proiectarea celui de-al doilea regulator folosindu-ma tot de pidTunner.</a:t>
            </a:r>
            <a:endParaRPr lang="en-US" sz="1600">
              <a:effectLst/>
              <a:latin typeface="Aptos" panose="020B0004020202020204" pitchFamily="34" charset="0"/>
              <a:ea typeface="Times New Roman" panose="02020603050405020304" pitchFamily="18" charset="0"/>
              <a:cs typeface="Times New Roman" panose="02020603050405020304" pitchFamily="18" charset="0"/>
            </a:endParaRPr>
          </a:p>
          <a:p>
            <a:pPr marL="0" indent="0">
              <a:buNone/>
            </a:pPr>
            <a:endParaRPr lang="en-US" sz="1600"/>
          </a:p>
        </p:txBody>
      </p:sp>
    </p:spTree>
    <p:extLst>
      <p:ext uri="{BB962C8B-B14F-4D97-AF65-F5344CB8AC3E}">
        <p14:creationId xmlns:p14="http://schemas.microsoft.com/office/powerpoint/2010/main" val="3646087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A45A3E-035D-FF51-53D9-98BA3BF70CEF}"/>
              </a:ext>
            </a:extLst>
          </p:cNvPr>
          <p:cNvSpPr>
            <a:spLocks noGrp="1"/>
          </p:cNvSpPr>
          <p:nvPr>
            <p:ph type="title"/>
          </p:nvPr>
        </p:nvSpPr>
        <p:spPr>
          <a:xfrm>
            <a:off x="808638" y="386930"/>
            <a:ext cx="9236700" cy="1188950"/>
          </a:xfrm>
        </p:spPr>
        <p:txBody>
          <a:bodyPr anchor="b">
            <a:normAutofit/>
          </a:bodyPr>
          <a:lstStyle/>
          <a:p>
            <a:r>
              <a:rPr lang="ro-RO" sz="5400" u="sng"/>
              <a:t>Regulatoarele obtinute</a:t>
            </a:r>
            <a:endParaRPr lang="en-US" sz="5400" u="sng"/>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7E7FA0-5C16-0FCD-D058-219023405101}"/>
              </a:ext>
            </a:extLst>
          </p:cNvPr>
          <p:cNvSpPr>
            <a:spLocks noGrp="1"/>
          </p:cNvSpPr>
          <p:nvPr>
            <p:ph idx="1"/>
          </p:nvPr>
        </p:nvSpPr>
        <p:spPr>
          <a:xfrm>
            <a:off x="793660" y="2599509"/>
            <a:ext cx="10143668" cy="3435531"/>
          </a:xfrm>
        </p:spPr>
        <p:txBody>
          <a:bodyPr anchor="ctr">
            <a:normAutofit/>
          </a:bodyPr>
          <a:lstStyle/>
          <a:p>
            <a:pPr marL="0" indent="0">
              <a:buNone/>
            </a:pPr>
            <a:r>
              <a:rPr lang="ro-RO" sz="2400" dirty="0"/>
              <a:t>Regulatoare pentru azimuth</a:t>
            </a:r>
            <a:r>
              <a:rPr lang="en-US" sz="2400" dirty="0"/>
              <a:t>:</a:t>
            </a:r>
          </a:p>
          <a:p>
            <a:pPr marL="0" indent="0">
              <a:buNone/>
            </a:pPr>
            <a:r>
              <a:rPr lang="en-US" sz="2400" dirty="0"/>
              <a:t>	-p</a:t>
            </a:r>
            <a:r>
              <a:rPr lang="ro-RO" sz="2400" dirty="0"/>
              <a:t>rimul regulator este de tip PID </a:t>
            </a:r>
            <a:r>
              <a:rPr lang="en-US" sz="2400" dirty="0"/>
              <a:t>cu </a:t>
            </a:r>
            <a:r>
              <a:rPr lang="en-US" sz="2400" dirty="0" err="1"/>
              <a:t>Kp</a:t>
            </a:r>
            <a:r>
              <a:rPr lang="en-US" sz="2400" dirty="0"/>
              <a:t>=0.0025624,Ki=0.044873,Kp=2.7042e-05</a:t>
            </a:r>
          </a:p>
          <a:p>
            <a:pPr marL="0" indent="0">
              <a:buNone/>
            </a:pPr>
            <a:r>
              <a:rPr lang="en-US" sz="2400" dirty="0"/>
              <a:t> 	-al </a:t>
            </a:r>
            <a:r>
              <a:rPr lang="en-US" sz="2400" dirty="0" err="1"/>
              <a:t>doilea</a:t>
            </a:r>
            <a:r>
              <a:rPr lang="en-US" sz="2400" dirty="0"/>
              <a:t> </a:t>
            </a:r>
            <a:r>
              <a:rPr lang="en-US" sz="2400" dirty="0" err="1"/>
              <a:t>este</a:t>
            </a:r>
            <a:r>
              <a:rPr lang="en-US" sz="2400" dirty="0"/>
              <a:t> de tip PID cu </a:t>
            </a:r>
            <a:r>
              <a:rPr lang="en-US" sz="2400" dirty="0" err="1"/>
              <a:t>cu</a:t>
            </a:r>
            <a:r>
              <a:rPr lang="en-US" sz="2400" dirty="0"/>
              <a:t> </a:t>
            </a:r>
            <a:r>
              <a:rPr lang="en-US" sz="2400" dirty="0" err="1"/>
              <a:t>Kp</a:t>
            </a:r>
            <a:r>
              <a:rPr lang="en-US" sz="2400" dirty="0"/>
              <a:t>=0.1834,Ki=0.2875,Kd=0.02559</a:t>
            </a:r>
          </a:p>
          <a:p>
            <a:pPr marL="0" indent="0">
              <a:buNone/>
            </a:pPr>
            <a:r>
              <a:rPr lang="ro-RO" sz="2400" dirty="0"/>
              <a:t>Regulatoare pentru </a:t>
            </a:r>
            <a:r>
              <a:rPr lang="en-US" sz="2400" dirty="0"/>
              <a:t>pitch:</a:t>
            </a:r>
          </a:p>
          <a:p>
            <a:pPr marL="0" indent="0">
              <a:buNone/>
            </a:pPr>
            <a:r>
              <a:rPr lang="en-US" sz="2400" dirty="0"/>
              <a:t>	-p</a:t>
            </a:r>
            <a:r>
              <a:rPr lang="ro-RO" sz="2400" dirty="0"/>
              <a:t>rimul regulator este de tip PID </a:t>
            </a:r>
            <a:r>
              <a:rPr lang="en-US" sz="2400" dirty="0"/>
              <a:t>cu </a:t>
            </a:r>
            <a:r>
              <a:rPr lang="en-US" sz="2400" dirty="0" err="1"/>
              <a:t>Kp</a:t>
            </a:r>
            <a:r>
              <a:rPr lang="en-US" sz="2400" dirty="0"/>
              <a:t>=0.0057564,Ki=0.029251,Kp=0.00028321</a:t>
            </a:r>
          </a:p>
          <a:p>
            <a:pPr marL="0" indent="0">
              <a:buNone/>
            </a:pPr>
            <a:r>
              <a:rPr lang="en-US" sz="2400" dirty="0"/>
              <a:t> 	-al </a:t>
            </a:r>
            <a:r>
              <a:rPr lang="en-US" sz="2400" dirty="0" err="1"/>
              <a:t>doilea</a:t>
            </a:r>
            <a:r>
              <a:rPr lang="en-US" sz="2400" dirty="0"/>
              <a:t> </a:t>
            </a:r>
            <a:r>
              <a:rPr lang="en-US" sz="2400" dirty="0" err="1"/>
              <a:t>este</a:t>
            </a:r>
            <a:r>
              <a:rPr lang="en-US" sz="2400" dirty="0"/>
              <a:t> de tip PID cu </a:t>
            </a:r>
            <a:r>
              <a:rPr lang="en-US" sz="2400" dirty="0" err="1"/>
              <a:t>cu</a:t>
            </a:r>
            <a:r>
              <a:rPr lang="en-US" sz="2400" dirty="0"/>
              <a:t> </a:t>
            </a:r>
            <a:r>
              <a:rPr lang="en-US" sz="2400" dirty="0" err="1"/>
              <a:t>Kp</a:t>
            </a:r>
            <a:r>
              <a:rPr lang="en-US" sz="2400" dirty="0"/>
              <a:t>=0,Ki=15.3,Kd=0</a:t>
            </a:r>
          </a:p>
          <a:p>
            <a:pPr marL="0" indent="0">
              <a:buNone/>
            </a:pPr>
            <a:endParaRPr lang="en-US" sz="2400" dirty="0"/>
          </a:p>
        </p:txBody>
      </p:sp>
    </p:spTree>
    <p:extLst>
      <p:ext uri="{BB962C8B-B14F-4D97-AF65-F5344CB8AC3E}">
        <p14:creationId xmlns:p14="http://schemas.microsoft.com/office/powerpoint/2010/main" val="306850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DE2D5A-6E59-B31D-C6CD-6C1EDB8F819B}"/>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Simularea și Analiza Sistemului</a:t>
            </a:r>
          </a:p>
        </p:txBody>
      </p:sp>
      <p:sp>
        <p:nvSpPr>
          <p:cNvPr id="3" name="Content Placeholder 2">
            <a:extLst>
              <a:ext uri="{FF2B5EF4-FFF2-40B4-BE49-F238E27FC236}">
                <a16:creationId xmlns:a16="http://schemas.microsoft.com/office/drawing/2014/main" id="{B07F3375-FD31-058C-283A-9F815BE8590B}"/>
              </a:ext>
            </a:extLst>
          </p:cNvPr>
          <p:cNvSpPr>
            <a:spLocks noGrp="1"/>
          </p:cNvSpPr>
          <p:nvPr>
            <p:ph idx="1"/>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Simularea sistemului am realizat-o in Simulink </a:t>
            </a:r>
          </a:p>
        </p:txBody>
      </p:sp>
      <p:grpSp>
        <p:nvGrpSpPr>
          <p:cNvPr id="24" name="Group 2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6BA23CE-275A-3F28-A8B4-609834727926}"/>
              </a:ext>
            </a:extLst>
          </p:cNvPr>
          <p:cNvPicPr>
            <a:picLocks noChangeAspect="1"/>
          </p:cNvPicPr>
          <p:nvPr/>
        </p:nvPicPr>
        <p:blipFill>
          <a:blip r:embed="rId2"/>
          <a:stretch>
            <a:fillRect/>
          </a:stretch>
        </p:blipFill>
        <p:spPr>
          <a:xfrm>
            <a:off x="5922492" y="2001784"/>
            <a:ext cx="5536001" cy="2795679"/>
          </a:xfrm>
          <a:prstGeom prst="rect">
            <a:avLst/>
          </a:prstGeom>
        </p:spPr>
      </p:pic>
    </p:spTree>
    <p:extLst>
      <p:ext uri="{BB962C8B-B14F-4D97-AF65-F5344CB8AC3E}">
        <p14:creationId xmlns:p14="http://schemas.microsoft.com/office/powerpoint/2010/main" val="3258633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9F0490-8368-5B85-5CD1-E6134DE3C487}"/>
              </a:ext>
            </a:extLst>
          </p:cNvPr>
          <p:cNvSpPr>
            <a:spLocks noGrp="1"/>
          </p:cNvSpPr>
          <p:nvPr>
            <p:ph type="title"/>
          </p:nvPr>
        </p:nvSpPr>
        <p:spPr>
          <a:xfrm>
            <a:off x="1113810" y="3023754"/>
            <a:ext cx="4982190" cy="2736965"/>
          </a:xfrm>
        </p:spPr>
        <p:txBody>
          <a:bodyPr vert="horz" lIns="91440" tIns="45720" rIns="91440" bIns="45720" rtlCol="0" anchor="t">
            <a:normAutofit/>
          </a:bodyPr>
          <a:lstStyle/>
          <a:p>
            <a:r>
              <a:rPr lang="en-US" sz="5400" kern="1200" dirty="0" err="1">
                <a:solidFill>
                  <a:schemeClr val="tx1"/>
                </a:solidFill>
                <a:latin typeface="+mj-lt"/>
                <a:ea typeface="+mj-ea"/>
                <a:cs typeface="+mj-cs"/>
              </a:rPr>
              <a:t>Semnalele</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obtinute</a:t>
            </a:r>
            <a:r>
              <a:rPr lang="en-US" sz="5400" kern="1200" dirty="0">
                <a:solidFill>
                  <a:schemeClr val="tx1"/>
                </a:solidFill>
                <a:latin typeface="+mj-lt"/>
                <a:ea typeface="+mj-ea"/>
                <a:cs typeface="+mj-cs"/>
              </a:rPr>
              <a:t>/</a:t>
            </a:r>
            <a:r>
              <a:rPr lang="en-US" sz="5400" kern="1200" dirty="0" err="1">
                <a:solidFill>
                  <a:schemeClr val="tx1"/>
                </a:solidFill>
                <a:latin typeface="+mj-lt"/>
                <a:ea typeface="+mj-ea"/>
                <a:cs typeface="+mj-cs"/>
              </a:rPr>
              <a:t>Validare</a:t>
            </a:r>
            <a:endParaRPr lang="en-US" sz="5400" kern="1200" dirty="0">
              <a:solidFill>
                <a:schemeClr val="tx1"/>
              </a:solidFill>
              <a:latin typeface="+mj-lt"/>
              <a:ea typeface="+mj-ea"/>
              <a:cs typeface="+mj-cs"/>
            </a:endParaRPr>
          </a:p>
        </p:txBody>
      </p:sp>
      <p:grpSp>
        <p:nvGrpSpPr>
          <p:cNvPr id="28" name="Group 27">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FC916B7-7146-51E6-DCB6-2AA307E5410F}"/>
              </a:ext>
            </a:extLst>
          </p:cNvPr>
          <p:cNvPicPr>
            <a:picLocks noChangeAspect="1"/>
          </p:cNvPicPr>
          <p:nvPr/>
        </p:nvPicPr>
        <p:blipFill rotWithShape="1">
          <a:blip r:embed="rId2"/>
          <a:srcRect l="5806" r="15817" b="3"/>
          <a:stretch/>
        </p:blipFill>
        <p:spPr>
          <a:xfrm>
            <a:off x="7114162" y="471748"/>
            <a:ext cx="4324849" cy="2552007"/>
          </a:xfrm>
          <a:prstGeom prst="rect">
            <a:avLst/>
          </a:prstGeom>
        </p:spPr>
      </p:pic>
      <p:sp>
        <p:nvSpPr>
          <p:cNvPr id="37" name="Rectangle 3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769791F-A867-DF19-FE95-81858B5DB957}"/>
              </a:ext>
            </a:extLst>
          </p:cNvPr>
          <p:cNvPicPr>
            <a:picLocks noChangeAspect="1"/>
          </p:cNvPicPr>
          <p:nvPr/>
        </p:nvPicPr>
        <p:blipFill rotWithShape="1">
          <a:blip r:embed="rId3"/>
          <a:srcRect l="11016" r="8912" b="2"/>
          <a:stretch/>
        </p:blipFill>
        <p:spPr>
          <a:xfrm>
            <a:off x="7114162" y="3676230"/>
            <a:ext cx="4324849" cy="2552007"/>
          </a:xfrm>
          <a:prstGeom prst="rect">
            <a:avLst/>
          </a:prstGeom>
        </p:spPr>
      </p:pic>
    </p:spTree>
    <p:extLst>
      <p:ext uri="{BB962C8B-B14F-4D97-AF65-F5344CB8AC3E}">
        <p14:creationId xmlns:p14="http://schemas.microsoft.com/office/powerpoint/2010/main" val="360892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14754-6916-81CC-4B2D-06023EB1FBD9}"/>
              </a:ext>
            </a:extLst>
          </p:cNvPr>
          <p:cNvSpPr>
            <a:spLocks noGrp="1"/>
          </p:cNvSpPr>
          <p:nvPr>
            <p:ph type="title"/>
          </p:nvPr>
        </p:nvSpPr>
        <p:spPr>
          <a:xfrm>
            <a:off x="1043631" y="809898"/>
            <a:ext cx="9942716" cy="1554480"/>
          </a:xfrm>
        </p:spPr>
        <p:txBody>
          <a:bodyPr anchor="ctr">
            <a:normAutofit/>
          </a:bodyPr>
          <a:lstStyle/>
          <a:p>
            <a:r>
              <a:rPr lang="en-US" sz="4800"/>
              <a:t>Concluzie</a:t>
            </a:r>
          </a:p>
        </p:txBody>
      </p:sp>
      <p:sp>
        <p:nvSpPr>
          <p:cNvPr id="3" name="Content Placeholder 2">
            <a:extLst>
              <a:ext uri="{FF2B5EF4-FFF2-40B4-BE49-F238E27FC236}">
                <a16:creationId xmlns:a16="http://schemas.microsoft.com/office/drawing/2014/main" id="{A205A0AC-CA79-1970-A374-F40C10BFD7F5}"/>
              </a:ext>
            </a:extLst>
          </p:cNvPr>
          <p:cNvSpPr>
            <a:spLocks noGrp="1"/>
          </p:cNvSpPr>
          <p:nvPr>
            <p:ph idx="1"/>
          </p:nvPr>
        </p:nvSpPr>
        <p:spPr>
          <a:xfrm>
            <a:off x="1045028" y="3017522"/>
            <a:ext cx="9941319" cy="3124658"/>
          </a:xfrm>
        </p:spPr>
        <p:txBody>
          <a:bodyPr anchor="ctr">
            <a:normAutofit/>
          </a:bodyPr>
          <a:lstStyle/>
          <a:p>
            <a:pPr marL="0" indent="0">
              <a:buNone/>
            </a:pPr>
            <a:r>
              <a:rPr lang="en-US" sz="2400" dirty="0" err="1"/>
              <a:t>Prin</a:t>
            </a:r>
            <a:r>
              <a:rPr lang="en-US" sz="2400" dirty="0"/>
              <a:t> </a:t>
            </a:r>
            <a:r>
              <a:rPr lang="en-US" sz="2400" dirty="0" err="1"/>
              <a:t>parcurgerea</a:t>
            </a:r>
            <a:r>
              <a:rPr lang="en-US" sz="2400" dirty="0"/>
              <a:t> </a:t>
            </a:r>
            <a:r>
              <a:rPr lang="en-US" sz="2400" dirty="0" err="1"/>
              <a:t>acestui</a:t>
            </a:r>
            <a:r>
              <a:rPr lang="en-US" sz="2400" dirty="0"/>
              <a:t> </a:t>
            </a:r>
            <a:r>
              <a:rPr lang="en-US" sz="2400" dirty="0" err="1"/>
              <a:t>proiect</a:t>
            </a:r>
            <a:r>
              <a:rPr lang="en-US" sz="2400" dirty="0"/>
              <a:t>, am </a:t>
            </a:r>
            <a:r>
              <a:rPr lang="en-US" sz="2400" dirty="0" err="1"/>
              <a:t>demonstrat</a:t>
            </a:r>
            <a:r>
              <a:rPr lang="en-US" sz="2400" dirty="0"/>
              <a:t> </a:t>
            </a:r>
            <a:r>
              <a:rPr lang="en-US" sz="2400" dirty="0" err="1"/>
              <a:t>capacitatea</a:t>
            </a:r>
            <a:r>
              <a:rPr lang="en-US" sz="2400" dirty="0"/>
              <a:t> de a </a:t>
            </a:r>
            <a:r>
              <a:rPr lang="en-US" sz="2400" dirty="0" err="1"/>
              <a:t>modela</a:t>
            </a:r>
            <a:r>
              <a:rPr lang="en-US" sz="2400" dirty="0"/>
              <a:t>, </a:t>
            </a:r>
            <a:r>
              <a:rPr lang="en-US" sz="2400" dirty="0" err="1"/>
              <a:t>simula</a:t>
            </a:r>
            <a:r>
              <a:rPr lang="en-US" sz="2400" dirty="0"/>
              <a:t> </a:t>
            </a:r>
            <a:r>
              <a:rPr lang="en-US" sz="2400" dirty="0" err="1"/>
              <a:t>și</a:t>
            </a:r>
            <a:r>
              <a:rPr lang="en-US" sz="2400" dirty="0"/>
              <a:t> </a:t>
            </a:r>
            <a:r>
              <a:rPr lang="en-US" sz="2400" dirty="0" err="1"/>
              <a:t>implementa</a:t>
            </a:r>
            <a:r>
              <a:rPr lang="en-US" sz="2400" dirty="0"/>
              <a:t> un </a:t>
            </a:r>
            <a:r>
              <a:rPr lang="en-US" sz="2400" dirty="0" err="1"/>
              <a:t>sistem</a:t>
            </a:r>
            <a:r>
              <a:rPr lang="en-US" sz="2400" dirty="0"/>
              <a:t> de control </a:t>
            </a:r>
            <a:r>
              <a:rPr lang="en-US" sz="2400" dirty="0" err="1"/>
              <a:t>eficient</a:t>
            </a:r>
            <a:r>
              <a:rPr lang="en-US" sz="2400" dirty="0"/>
              <a:t> care cu </a:t>
            </a:r>
            <a:r>
              <a:rPr lang="en-US" sz="2400" dirty="0" err="1"/>
              <a:t>sigurant</a:t>
            </a:r>
            <a:r>
              <a:rPr lang="ro-RO" sz="2400" dirty="0"/>
              <a:t>ă</a:t>
            </a:r>
            <a:r>
              <a:rPr lang="en-US" sz="2400" dirty="0"/>
              <a:t> </a:t>
            </a:r>
            <a:r>
              <a:rPr lang="en-US" sz="2400" dirty="0" err="1"/>
              <a:t>ar</a:t>
            </a:r>
            <a:r>
              <a:rPr lang="en-US" sz="2400" dirty="0"/>
              <a:t> </a:t>
            </a:r>
            <a:r>
              <a:rPr lang="en-US" sz="2400" dirty="0" err="1"/>
              <a:t>putea</a:t>
            </a:r>
            <a:r>
              <a:rPr lang="en-US" sz="2400" dirty="0"/>
              <a:t> f</a:t>
            </a:r>
            <a:r>
              <a:rPr lang="ro-RO" sz="2400" dirty="0"/>
              <a:t>i</a:t>
            </a:r>
            <a:r>
              <a:rPr lang="en-US" sz="2400" dirty="0"/>
              <a:t> </a:t>
            </a:r>
            <a:r>
              <a:rPr lang="ro-RO" sz="2400" dirty="0"/>
              <a:t>î</a:t>
            </a:r>
            <a:r>
              <a:rPr lang="en-US" sz="2400" dirty="0" err="1"/>
              <a:t>mbun</a:t>
            </a:r>
            <a:r>
              <a:rPr lang="ro-RO" sz="2400" dirty="0"/>
              <a:t>ă</a:t>
            </a:r>
            <a:r>
              <a:rPr lang="en-US" sz="2400" dirty="0"/>
              <a:t>t</a:t>
            </a:r>
            <a:r>
              <a:rPr lang="ro-RO" sz="2400" dirty="0"/>
              <a:t>ăț</a:t>
            </a:r>
            <a:r>
              <a:rPr lang="en-US" sz="2400" dirty="0"/>
              <a:t>it</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181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49366E873CA94EBDDDBC323BB88D50" ma:contentTypeVersion="9" ma:contentTypeDescription="Create a new document." ma:contentTypeScope="" ma:versionID="469e554be91d6be320a4ffd3b4928aac">
  <xsd:schema xmlns:xsd="http://www.w3.org/2001/XMLSchema" xmlns:xs="http://www.w3.org/2001/XMLSchema" xmlns:p="http://schemas.microsoft.com/office/2006/metadata/properties" xmlns:ns2="91c9504a-7221-4460-96e2-5010a891b1c3" targetNamespace="http://schemas.microsoft.com/office/2006/metadata/properties" ma:root="true" ma:fieldsID="29fffed56e1a3420b6620693c0d94a81" ns2:_="">
    <xsd:import namespace="91c9504a-7221-4460-96e2-5010a891b1c3"/>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c9504a-7221-4460-96e2-5010a891b1c3"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91c9504a-7221-4460-96e2-5010a891b1c3" xsi:nil="true"/>
  </documentManagement>
</p:properties>
</file>

<file path=customXml/itemProps1.xml><?xml version="1.0" encoding="utf-8"?>
<ds:datastoreItem xmlns:ds="http://schemas.openxmlformats.org/officeDocument/2006/customXml" ds:itemID="{0BED7A2B-7E55-4C7E-BE11-28F856759C14}"/>
</file>

<file path=customXml/itemProps2.xml><?xml version="1.0" encoding="utf-8"?>
<ds:datastoreItem xmlns:ds="http://schemas.openxmlformats.org/officeDocument/2006/customXml" ds:itemID="{7FCDDD1F-17BC-4467-BEB7-E0337E6BAD12}"/>
</file>

<file path=customXml/itemProps3.xml><?xml version="1.0" encoding="utf-8"?>
<ds:datastoreItem xmlns:ds="http://schemas.openxmlformats.org/officeDocument/2006/customXml" ds:itemID="{85E322AC-B867-4441-AC8E-98F8E2293F38}"/>
</file>

<file path=docProps/app.xml><?xml version="1.0" encoding="utf-8"?>
<Properties xmlns="http://schemas.openxmlformats.org/officeDocument/2006/extended-properties" xmlns:vt="http://schemas.openxmlformats.org/officeDocument/2006/docPropsVTypes">
  <TotalTime>111</TotalTime>
  <Words>403</Words>
  <Application>Microsoft Office PowerPoint</Application>
  <PresentationFormat>Widescreen</PresentationFormat>
  <Paragraphs>34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Twin Rotor System</vt:lpstr>
      <vt:lpstr>Conținut:</vt:lpstr>
      <vt:lpstr>Introducere</vt:lpstr>
      <vt:lpstr>Modelarea Sistemului</vt:lpstr>
      <vt:lpstr>Identificarea Modelului</vt:lpstr>
      <vt:lpstr>Proiectarea Regulatoarelor</vt:lpstr>
      <vt:lpstr>Regulatoarele obtinute</vt:lpstr>
      <vt:lpstr>Simularea și Analiza Sistemului</vt:lpstr>
      <vt:lpstr>Semnalele obtinute/Validare</vt:lpstr>
      <vt:lpstr>Concluzie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Twin Rotor System</dc:title>
  <dc:creator>Dana Dorina David</dc:creator>
  <cp:lastModifiedBy>Dana Dorina David</cp:lastModifiedBy>
  <cp:revision>3</cp:revision>
  <dcterms:created xsi:type="dcterms:W3CDTF">2024-05-25T18:05:38Z</dcterms:created>
  <dcterms:modified xsi:type="dcterms:W3CDTF">2024-05-25T21:10:56Z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2024-05-25T19:19:03Z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aea3b714-e04f-49ef-bca1-ae00737fedd9</vt:lpwstr>
  </property>
  <property fmtid="{D5CDD505-2E9C-101B-9397-08002B2CF9AE}" pid="8" name="MSIP_Label_5b58b62f-6f94-46bd-8089-18e64b0a9abb_ContentBits">
    <vt:lpwstr>0</vt:lpwstr>
  </property>
  <property fmtid="{D5CDD505-2E9C-101B-9397-08002B2CF9AE}" pid="9" name="ContentTypeId">
    <vt:lpwstr>0x010100C949366E873CA94EBDDDBC323BB88D50</vt:lpwstr>
  </property>
</Properties>
</file>